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0"/>
  </p:notesMasterIdLst>
  <p:sldIdLst>
    <p:sldId id="291" r:id="rId2"/>
    <p:sldId id="281" r:id="rId3"/>
    <p:sldId id="290" r:id="rId4"/>
    <p:sldId id="298" r:id="rId5"/>
    <p:sldId id="293" r:id="rId6"/>
    <p:sldId id="294" r:id="rId7"/>
    <p:sldId id="299" r:id="rId8"/>
    <p:sldId id="296" r:id="rId9"/>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0" d="100"/>
          <a:sy n="90" d="100"/>
        </p:scale>
        <p:origin x="370" y="8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9/12/2026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txBody>
          <a:bodyPr/>
          <a:lstStyle/>
          <a:p>
            <a:endParaRPr lang="en-IN"/>
          </a:p>
        </p:txBody>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txBody>
          <a:bodyPr/>
          <a:lstStyle/>
          <a:p>
            <a:endParaRPr lang="en-IN"/>
          </a:p>
        </p:txBody>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F7313-B762-4091-BEB7-A40959EBE3E5}"/>
            </a:ext>
          </a:extLst>
        </p:cNvPr>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40D66D63-47D5-8ED7-CE74-FD6E168B7BD2}"/>
              </a:ext>
            </a:extLst>
          </p:cNvPr>
          <p:cNvSpPr>
            <a:spLocks noGrp="1" noRot="1" noChangeAspect="1"/>
          </p:cNvSpPr>
          <p:nvPr>
            <p:ph type="sldImg"/>
          </p:nvPr>
        </p:nvSpPr>
        <p:spPr bwMode="auto">
          <a:xfrm>
            <a:off x="381000" y="685800"/>
            <a:ext cx="6096000" cy="3429000"/>
          </a:xfrm>
          <a:noFill/>
          <a:ln>
            <a:solidFill>
              <a:srgbClr val="000000"/>
            </a:solidFill>
            <a:miter lim="800000"/>
            <a:headEnd/>
            <a:tailEnd/>
          </a:ln>
        </p:spPr>
        <p:txBody>
          <a:bodyPr/>
          <a:lstStyle/>
          <a:p>
            <a:endParaRPr lang="en-IN"/>
          </a:p>
        </p:txBody>
      </p:sp>
      <p:sp>
        <p:nvSpPr>
          <p:cNvPr id="18434" name="Notes Placeholder 2">
            <a:extLst>
              <a:ext uri="{FF2B5EF4-FFF2-40B4-BE49-F238E27FC236}">
                <a16:creationId xmlns:a16="http://schemas.microsoft.com/office/drawing/2014/main" id="{2971FDC1-1A66-330F-6BE8-6975A2D4159F}"/>
              </a:ext>
            </a:extLst>
          </p:cNvPr>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a:extLst>
              <a:ext uri="{FF2B5EF4-FFF2-40B4-BE49-F238E27FC236}">
                <a16:creationId xmlns:a16="http://schemas.microsoft.com/office/drawing/2014/main" id="{6CF6CF71-7661-7C8B-E0D4-FED40FA2886D}"/>
              </a:ext>
            </a:extLst>
          </p:cNvPr>
          <p:cNvSpPr>
            <a:spLocks noGrp="1"/>
          </p:cNvSpPr>
          <p:nvPr>
            <p:ph type="sldNum" sz="quarter" idx="5"/>
          </p:nvPr>
        </p:nvSpPr>
        <p:spPr bwMode="auto">
          <a:noFill/>
          <a:ln>
            <a:miter lim="800000"/>
            <a:headEnd/>
            <a:tailEnd/>
          </a:ln>
        </p:spPr>
        <p:txBody>
          <a:bodyPr/>
          <a:lstStyle/>
          <a:p>
            <a:fld id="{0CA7B74D-3791-4AC6-8451-F10DBCCCDD9A}" type="slidenum">
              <a:rPr lang="en-US"/>
              <a:pPr/>
              <a:t>4</a:t>
            </a:fld>
            <a:endParaRPr lang="en-US"/>
          </a:p>
        </p:txBody>
      </p:sp>
    </p:spTree>
    <p:extLst>
      <p:ext uri="{BB962C8B-B14F-4D97-AF65-F5344CB8AC3E}">
        <p14:creationId xmlns:p14="http://schemas.microsoft.com/office/powerpoint/2010/main" val="8470224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txBody>
          <a:bodyPr/>
          <a:lstStyle/>
          <a:p>
            <a:endParaRPr lang="en-IN"/>
          </a:p>
        </p:txBody>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txBody>
          <a:bodyPr/>
          <a:lstStyle/>
          <a:p>
            <a:endParaRPr lang="en-IN"/>
          </a:p>
        </p:txBody>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42A32-29EC-C98E-A0C9-EDE728B527D2}"/>
            </a:ext>
          </a:extLst>
        </p:cNvPr>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8FAE085E-4BBE-25F9-3211-0DA96A2CC523}"/>
              </a:ext>
            </a:extLst>
          </p:cNvPr>
          <p:cNvSpPr>
            <a:spLocks noGrp="1" noRot="1" noChangeAspect="1"/>
          </p:cNvSpPr>
          <p:nvPr>
            <p:ph type="sldImg"/>
          </p:nvPr>
        </p:nvSpPr>
        <p:spPr bwMode="auto">
          <a:xfrm>
            <a:off x="381000" y="685800"/>
            <a:ext cx="6096000" cy="3429000"/>
          </a:xfrm>
          <a:noFill/>
          <a:ln>
            <a:solidFill>
              <a:srgbClr val="000000"/>
            </a:solidFill>
            <a:miter lim="800000"/>
            <a:headEnd/>
            <a:tailEnd/>
          </a:ln>
        </p:spPr>
        <p:txBody>
          <a:bodyPr/>
          <a:lstStyle/>
          <a:p>
            <a:endParaRPr lang="en-IN"/>
          </a:p>
        </p:txBody>
      </p:sp>
      <p:sp>
        <p:nvSpPr>
          <p:cNvPr id="18434" name="Notes Placeholder 2">
            <a:extLst>
              <a:ext uri="{FF2B5EF4-FFF2-40B4-BE49-F238E27FC236}">
                <a16:creationId xmlns:a16="http://schemas.microsoft.com/office/drawing/2014/main" id="{34C8C187-2A8D-9BFA-AD33-FC751FDB1D30}"/>
              </a:ext>
            </a:extLst>
          </p:cNvPr>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a:extLst>
              <a:ext uri="{FF2B5EF4-FFF2-40B4-BE49-F238E27FC236}">
                <a16:creationId xmlns:a16="http://schemas.microsoft.com/office/drawing/2014/main" id="{58856F43-6B2A-CB0D-0893-074005D83B1B}"/>
              </a:ext>
            </a:extLst>
          </p:cNvPr>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8113129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txBody>
          <a:bodyPr/>
          <a:lstStyle/>
          <a:p>
            <a:endParaRPr lang="en-IN"/>
          </a:p>
        </p:txBody>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9/12/2026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9/12/2026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9/12/2026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9/12/2026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9/12/2026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9/12/2026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9/12/2026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9/12/2026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9/12/2026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9/12/2026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9/12/2026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9/12/2026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data.ncpor.res.in/PolarDirectory/" TargetMode="External"/><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Title 7"/>
          <p:cNvSpPr>
            <a:spLocks noGrp="1"/>
          </p:cNvSpPr>
          <p:nvPr>
            <p:ph type="ctrTitle"/>
          </p:nvPr>
        </p:nvSpPr>
        <p:spPr>
          <a:xfrm>
            <a:off x="1805992" y="429214"/>
            <a:ext cx="8489393" cy="1083437"/>
          </a:xfrm>
        </p:spPr>
        <p:txBody>
          <a:bodyPr/>
          <a:lstStyle/>
          <a:p>
            <a:r>
              <a:rPr lang="en-US" sz="4000" b="1" dirty="0">
                <a:solidFill>
                  <a:schemeClr val="tx2"/>
                </a:solidFill>
                <a:latin typeface="Garamond" panose="02020404030301010803" pitchFamily="18" charset="0"/>
              </a:rPr>
              <a:t>SMART INDIA HACKATHON 2026</a:t>
            </a:r>
            <a:endParaRPr lang="en-IN" sz="4000" b="1" dirty="0">
              <a:solidFill>
                <a:schemeClr val="tx2"/>
              </a:solidFill>
              <a:latin typeface="Garamond" panose="02020404030301010803" pitchFamily="18" charset="0"/>
            </a:endParaRPr>
          </a:p>
        </p:txBody>
      </p:sp>
      <p:sp>
        <p:nvSpPr>
          <p:cNvPr id="10" name="TextBox 9"/>
          <p:cNvSpPr txBox="1"/>
          <p:nvPr/>
        </p:nvSpPr>
        <p:spPr>
          <a:xfrm>
            <a:off x="567033" y="1938412"/>
            <a:ext cx="8817558" cy="3228513"/>
          </a:xfrm>
          <a:prstGeom prst="rect">
            <a:avLst/>
          </a:prstGeom>
          <a:noFill/>
        </p:spPr>
        <p:txBody>
          <a:bodyPr wrap="square" rtlCol="0">
            <a:spAutoFit/>
          </a:bodyPr>
          <a:lstStyle/>
          <a:p>
            <a:endParaRPr lang="en-US" dirty="0"/>
          </a:p>
          <a:p>
            <a:pPr marL="285750" indent="-285750" algn="just">
              <a:lnSpc>
                <a:spcPct val="200000"/>
              </a:lnSpc>
              <a:buFont typeface="Arial" panose="020B0604020202020204" pitchFamily="34" charset="0"/>
              <a:buChar char="•"/>
            </a:pPr>
            <a:r>
              <a:rPr lang="en-US" b="1" dirty="0">
                <a:latin typeface="+mj-lt"/>
                <a:cs typeface="Arial" panose="020B0604020202020204" pitchFamily="34" charset="0"/>
              </a:rPr>
              <a:t>Problem Statement ID </a:t>
            </a:r>
            <a:r>
              <a:rPr lang="en-US" dirty="0">
                <a:latin typeface="+mj-lt"/>
                <a:cs typeface="Arial" panose="020B0604020202020204" pitchFamily="34" charset="0"/>
              </a:rPr>
              <a:t>– 26060</a:t>
            </a:r>
          </a:p>
          <a:p>
            <a:pPr marL="285750" indent="-285750" algn="just">
              <a:lnSpc>
                <a:spcPct val="200000"/>
              </a:lnSpc>
              <a:buFont typeface="Arial" panose="020B0604020202020204" pitchFamily="34" charset="0"/>
              <a:buChar char="•"/>
            </a:pPr>
            <a:r>
              <a:rPr lang="en-US" b="1" dirty="0">
                <a:latin typeface="+mj-lt"/>
                <a:cs typeface="Arial" panose="020B0604020202020204" pitchFamily="34" charset="0"/>
              </a:rPr>
              <a:t>Problem Statement Title</a:t>
            </a:r>
            <a:r>
              <a:rPr lang="en-US" sz="2000" dirty="0">
                <a:latin typeface="+mj-lt"/>
                <a:cs typeface="Arial" panose="020B0604020202020204" pitchFamily="34" charset="0"/>
              </a:rPr>
              <a:t>- </a:t>
            </a:r>
            <a:r>
              <a:rPr lang="en-US" dirty="0">
                <a:latin typeface="+mj-lt"/>
                <a:cs typeface="Arial" panose="020B0604020202020204" pitchFamily="34" charset="0"/>
              </a:rPr>
              <a:t>Digital Platform for Efficient Remote Management of Indian Antarctic Research Stations</a:t>
            </a:r>
          </a:p>
          <a:p>
            <a:pPr marL="285750" indent="-285750" algn="just">
              <a:lnSpc>
                <a:spcPct val="200000"/>
              </a:lnSpc>
              <a:buFont typeface="Arial" panose="020B0604020202020204" pitchFamily="34" charset="0"/>
              <a:buChar char="•"/>
            </a:pPr>
            <a:r>
              <a:rPr lang="en-US" sz="2000" b="1" dirty="0">
                <a:latin typeface="+mj-lt"/>
                <a:cs typeface="Arial" panose="020B0604020202020204" pitchFamily="34" charset="0"/>
              </a:rPr>
              <a:t>PS Category</a:t>
            </a:r>
            <a:r>
              <a:rPr lang="en-US" sz="2000" dirty="0">
                <a:latin typeface="+mj-lt"/>
                <a:cs typeface="Arial" panose="020B0604020202020204" pitchFamily="34" charset="0"/>
              </a:rPr>
              <a:t>- </a:t>
            </a:r>
            <a:r>
              <a:rPr lang="en-US" dirty="0">
                <a:latin typeface="+mj-lt"/>
                <a:cs typeface="Arial" panose="020B0604020202020204" pitchFamily="34" charset="0"/>
              </a:rPr>
              <a:t>Software</a:t>
            </a:r>
          </a:p>
          <a:p>
            <a:pPr marL="285750" indent="-285750" algn="just">
              <a:lnSpc>
                <a:spcPct val="200000"/>
              </a:lnSpc>
              <a:buFont typeface="Arial" panose="020B0604020202020204" pitchFamily="34" charset="0"/>
              <a:buChar char="•"/>
            </a:pPr>
            <a:r>
              <a:rPr lang="en-US" sz="2000" b="1" dirty="0">
                <a:latin typeface="+mj-lt"/>
                <a:cs typeface="Arial" panose="020B0604020202020204" pitchFamily="34" charset="0"/>
              </a:rPr>
              <a:t>Team Name</a:t>
            </a:r>
            <a:r>
              <a:rPr lang="en-US" dirty="0">
                <a:latin typeface="+mj-lt"/>
                <a:cs typeface="Arial" panose="020B0604020202020204" pitchFamily="34" charset="0"/>
              </a:rPr>
              <a:t>: Glory code</a:t>
            </a:r>
            <a:endParaRPr lang="en-IN" dirty="0">
              <a:latin typeface="+mj-lt"/>
              <a:cs typeface="Arial" panose="020B0604020202020204" pitchFamily="34"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95385" y="580979"/>
            <a:ext cx="1651708" cy="779906"/>
          </a:xfrm>
          <a:prstGeom prst="rect">
            <a:avLst/>
          </a:prstGeom>
        </p:spPr>
      </p:pic>
      <p:pic>
        <p:nvPicPr>
          <p:cNvPr id="9" name="Picture 8">
            <a:extLst>
              <a:ext uri="{FF2B5EF4-FFF2-40B4-BE49-F238E27FC236}">
                <a16:creationId xmlns:a16="http://schemas.microsoft.com/office/drawing/2014/main" id="{AE4A822E-5D71-7276-03E5-748FDABB8CA0}"/>
              </a:ext>
            </a:extLst>
          </p:cNvPr>
          <p:cNvPicPr>
            <a:picLocks noChangeAspect="1"/>
          </p:cNvPicPr>
          <p:nvPr/>
        </p:nvPicPr>
        <p:blipFill>
          <a:blip r:embed="rId3"/>
          <a:stretch>
            <a:fillRect/>
          </a:stretch>
        </p:blipFill>
        <p:spPr>
          <a:xfrm>
            <a:off x="244907" y="329139"/>
            <a:ext cx="1361936" cy="13619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3556000" y="414867"/>
            <a:ext cx="4038600" cy="67733"/>
          </a:xfrm>
        </p:spPr>
        <p:txBody>
          <a:bodyPr/>
          <a:lstStyle/>
          <a:p>
            <a:pPr eaLnBrk="1" hangingPunct="1"/>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DPT-A</a:t>
            </a:r>
          </a:p>
        </p:txBody>
      </p:sp>
      <p:sp>
        <p:nvSpPr>
          <p:cNvPr id="15362" name="TextBox 8"/>
          <p:cNvSpPr txBox="1">
            <a:spLocks noChangeArrowheads="1"/>
          </p:cNvSpPr>
          <p:nvPr/>
        </p:nvSpPr>
        <p:spPr bwMode="auto">
          <a:xfrm>
            <a:off x="1381153" y="1311826"/>
            <a:ext cx="8398933" cy="5786199"/>
          </a:xfrm>
          <a:prstGeom prst="rect">
            <a:avLst/>
          </a:prstGeom>
          <a:noFill/>
          <a:ln w="9525">
            <a:noFill/>
            <a:miter lim="800000"/>
            <a:headEnd/>
            <a:tailEnd/>
          </a:ln>
        </p:spPr>
        <p:txBody>
          <a:bodyPr wrap="square">
            <a:spAutoFit/>
          </a:bodyPr>
          <a:lstStyle/>
          <a:p>
            <a:pPr marL="342900" indent="-342900">
              <a:buFont typeface="Wingdings" panose="05000000000000000000" pitchFamily="2" charset="2"/>
              <a:buChar char="v"/>
            </a:pPr>
            <a:r>
              <a:rPr lang="en-US" sz="3200" b="1" u="sng" dirty="0">
                <a:solidFill>
                  <a:schemeClr val="tx2"/>
                </a:solidFill>
                <a:latin typeface="Arial" pitchFamily="34" charset="0"/>
                <a:cs typeface="Arial" pitchFamily="34" charset="0"/>
              </a:rPr>
              <a:t> What is a Digital Twin?, How is it used?</a:t>
            </a:r>
          </a:p>
          <a:p>
            <a:endParaRPr lang="en-US" sz="3200" u="sng" dirty="0">
              <a:solidFill>
                <a:schemeClr val="tx2"/>
              </a:solidFill>
              <a:latin typeface="Arial" pitchFamily="34" charset="0"/>
              <a:cs typeface="Arial" pitchFamily="34" charset="0"/>
            </a:endParaRPr>
          </a:p>
          <a:p>
            <a:pPr marL="342900" indent="-342900">
              <a:buFont typeface="Arial" panose="020B0604020202020204" pitchFamily="34" charset="0"/>
              <a:buChar char="•"/>
            </a:pPr>
            <a:endParaRPr lang="en-US" sz="2000" u="sng" dirty="0">
              <a:solidFill>
                <a:schemeClr val="tx2"/>
              </a:solidFill>
              <a:latin typeface="Arial" pitchFamily="34" charset="0"/>
              <a:cs typeface="Arial" pitchFamily="34" charset="0"/>
            </a:endParaRPr>
          </a:p>
          <a:p>
            <a:pPr marL="342900" indent="-342900">
              <a:buFont typeface="Arial" panose="020B0604020202020204" pitchFamily="34" charset="0"/>
              <a:buChar char="•"/>
            </a:pPr>
            <a:r>
              <a:rPr lang="en-US" sz="1600" dirty="0">
                <a:latin typeface="Aptos"/>
              </a:rPr>
              <a:t>A </a:t>
            </a:r>
            <a:r>
              <a:rPr lang="en-US" dirty="0">
                <a:latin typeface="Aptos"/>
              </a:rPr>
              <a:t>digital</a:t>
            </a:r>
            <a:r>
              <a:rPr lang="en-US" dirty="0">
                <a:solidFill>
                  <a:srgbClr val="AAAAAA"/>
                </a:solidFill>
                <a:latin typeface="Aptos"/>
              </a:rPr>
              <a:t> </a:t>
            </a:r>
            <a:r>
              <a:rPr lang="en-US" dirty="0">
                <a:latin typeface="Aptos"/>
              </a:rPr>
              <a:t>twin with a </a:t>
            </a:r>
            <a:r>
              <a:rPr lang="en-US" b="1" dirty="0">
                <a:latin typeface="Aptos"/>
              </a:rPr>
              <a:t>Machine Learning model embedded into the system with the appropriate datasets and information</a:t>
            </a:r>
            <a:r>
              <a:rPr lang="en-US" dirty="0">
                <a:latin typeface="Aptos"/>
              </a:rPr>
              <a:t>. The Basic Idea is to understand historical data from the Station’s expeditions and act according to </a:t>
            </a:r>
            <a:r>
              <a:rPr lang="en-US" b="1" dirty="0">
                <a:latin typeface="Aptos"/>
              </a:rPr>
              <a:t>the number of personnel, the temperature, physical conditions, season</a:t>
            </a:r>
            <a:r>
              <a:rPr lang="en-US" dirty="0">
                <a:latin typeface="Aptos"/>
              </a:rPr>
              <a:t>. To finally, predict the number of adequate resources such as fuel, water, equipment required to be given.</a:t>
            </a:r>
          </a:p>
          <a:p>
            <a:pPr marL="342900" indent="-342900">
              <a:buFont typeface="Arial" panose="020B0604020202020204" pitchFamily="34" charset="0"/>
              <a:buChar char="•"/>
            </a:pPr>
            <a:endParaRPr lang="en-US" dirty="0">
              <a:latin typeface="Aptos"/>
            </a:endParaRPr>
          </a:p>
          <a:p>
            <a:pPr marL="342900" indent="-342900">
              <a:buFont typeface="Arial" panose="020B0604020202020204" pitchFamily="34" charset="0"/>
              <a:buChar char="•"/>
            </a:pPr>
            <a:r>
              <a:rPr lang="en-US" dirty="0">
                <a:latin typeface="Aptos"/>
              </a:rPr>
              <a:t>Since the region is far away from the mainland, the resources required must be delivered well in advance, our digital twin is designed to predict the need for these resource well in advance to avoid mishaps</a:t>
            </a:r>
            <a:r>
              <a:rPr lang="en-US" sz="2400" dirty="0">
                <a:latin typeface="Aptos"/>
              </a:rPr>
              <a:t>.</a:t>
            </a:r>
          </a:p>
          <a:p>
            <a:pPr marL="342900" indent="-342900">
              <a:buFont typeface="Arial" panose="020B0604020202020204" pitchFamily="34" charset="0"/>
              <a:buChar char="•"/>
            </a:pPr>
            <a:endParaRPr lang="en-US" sz="2000" dirty="0">
              <a:latin typeface="Aptos"/>
            </a:endParaRPr>
          </a:p>
          <a:p>
            <a:pPr marL="342900" indent="-342900">
              <a:buFont typeface="Arial" panose="020B0604020202020204" pitchFamily="34" charset="0"/>
              <a:buChar char="•"/>
            </a:pPr>
            <a:endParaRPr lang="en-US" sz="2000" dirty="0">
              <a:latin typeface="Aptos"/>
            </a:endParaRPr>
          </a:p>
          <a:p>
            <a:pPr marL="342900" indent="-342900">
              <a:buFont typeface="Arial" panose="020B0604020202020204" pitchFamily="34" charset="0"/>
              <a:buChar char="•"/>
            </a:pPr>
            <a:endParaRPr lang="en-US" sz="2000" dirty="0">
              <a:latin typeface="Aptos"/>
            </a:endParaRPr>
          </a:p>
          <a:p>
            <a:pPr marL="342900" indent="-342900">
              <a:buFont typeface="Arial" panose="020B0604020202020204" pitchFamily="34" charset="0"/>
              <a:buChar char="•"/>
            </a:pPr>
            <a:endParaRPr lang="en-US" sz="2000" u="sng" dirty="0">
              <a:solidFill>
                <a:schemeClr val="tx2"/>
              </a:solidFill>
              <a:latin typeface="Arial" pitchFamily="34" charset="0"/>
              <a:cs typeface="Arial" pitchFamily="34" charset="0"/>
            </a:endParaRPr>
          </a:p>
          <a:p>
            <a:pPr marL="342900" indent="-342900">
              <a:buFont typeface="Arial" panose="020B0604020202020204" pitchFamily="34" charset="0"/>
              <a:buChar char="•"/>
            </a:pPr>
            <a:endParaRPr lang="en-US" sz="2000" dirty="0">
              <a:solidFill>
                <a:schemeClr val="tx2"/>
              </a:solidFill>
              <a:latin typeface="Arial" pitchFamily="34" charset="0"/>
              <a:cs typeface="Arial" pitchFamily="34" charset="0"/>
            </a:endParaRP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2091694" cy="628287"/>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Glory Code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MAITRI STATION</a:t>
            </a:r>
          </a:p>
        </p:txBody>
      </p:sp>
      <p:sp>
        <p:nvSpPr>
          <p:cNvPr id="17410" name="TextBox 8"/>
          <p:cNvSpPr txBox="1">
            <a:spLocks noChangeArrowheads="1"/>
          </p:cNvSpPr>
          <p:nvPr/>
        </p:nvSpPr>
        <p:spPr bwMode="auto">
          <a:xfrm>
            <a:off x="295790" y="1498600"/>
            <a:ext cx="8086210" cy="4093428"/>
          </a:xfrm>
          <a:prstGeom prst="rect">
            <a:avLst/>
          </a:prstGeom>
          <a:noFill/>
          <a:ln w="9525">
            <a:noFill/>
            <a:miter lim="800000"/>
            <a:headEnd/>
            <a:tailEnd/>
          </a:ln>
        </p:spPr>
        <p:txBody>
          <a:bodyPr wrap="square">
            <a:spAutoFit/>
          </a:bodyPr>
          <a:lstStyle/>
          <a:p>
            <a:pPr marL="342900" lvl="0" indent="-342900">
              <a:buFont typeface="Arial" panose="020B0604020202020204" pitchFamily="34" charset="0"/>
              <a:buChar char="•"/>
            </a:pPr>
            <a:r>
              <a:rPr lang="en-IN" sz="2000" b="1" dirty="0">
                <a:effectLst/>
                <a:latin typeface="Google Sans Text"/>
              </a:rPr>
              <a:t>Where:</a:t>
            </a:r>
            <a:r>
              <a:rPr lang="en-IN" sz="2000" dirty="0">
                <a:effectLst/>
                <a:latin typeface="Google Sans Text"/>
              </a:rPr>
              <a:t> Situated at </a:t>
            </a:r>
            <a:r>
              <a:rPr lang="en-IN" sz="2000" b="1" dirty="0" err="1">
                <a:effectLst/>
                <a:latin typeface="Google Sans Text"/>
              </a:rPr>
              <a:t>Larsemann</a:t>
            </a:r>
            <a:r>
              <a:rPr lang="en-IN" sz="2000" b="1" dirty="0">
                <a:effectLst/>
                <a:latin typeface="Google Sans Text"/>
              </a:rPr>
              <a:t> Hills</a:t>
            </a:r>
            <a:r>
              <a:rPr lang="en-IN" sz="2000" dirty="0">
                <a:effectLst/>
                <a:latin typeface="Google Sans Text"/>
              </a:rPr>
              <a:t> along the coast of Prydz Bay in </a:t>
            </a:r>
            <a:r>
              <a:rPr lang="en-IN" sz="2000" b="1" dirty="0">
                <a:effectLst/>
                <a:latin typeface="Google Sans Text"/>
              </a:rPr>
              <a:t>East Antarctica</a:t>
            </a:r>
            <a:r>
              <a:rPr lang="en-IN" sz="2000" dirty="0">
                <a:effectLst/>
                <a:latin typeface="Google Sans Text"/>
              </a:rPr>
              <a:t>. </a:t>
            </a:r>
          </a:p>
          <a:p>
            <a:pPr marL="342900" lvl="0" indent="-342900">
              <a:buFont typeface="Arial" panose="020B0604020202020204" pitchFamily="34" charset="0"/>
              <a:buChar char="•"/>
            </a:pPr>
            <a:r>
              <a:rPr lang="en-IN" sz="2000" b="1" dirty="0">
                <a:effectLst/>
                <a:latin typeface="Google Sans Text"/>
              </a:rPr>
              <a:t>Distance:</a:t>
            </a:r>
            <a:r>
              <a:rPr lang="en-IN" sz="2000" dirty="0">
                <a:effectLst/>
                <a:latin typeface="Google Sans Text"/>
              </a:rPr>
              <a:t> Located about 3,000 km east of India's second Antarctic station, </a:t>
            </a:r>
            <a:r>
              <a:rPr lang="en-IN" sz="2000" i="1" dirty="0">
                <a:effectLst/>
                <a:latin typeface="Google Sans Text"/>
              </a:rPr>
              <a:t>Maitri</a:t>
            </a:r>
            <a:r>
              <a:rPr lang="en-IN" sz="2000" dirty="0">
                <a:effectLst/>
                <a:latin typeface="Google Sans Text"/>
              </a:rPr>
              <a:t>. </a:t>
            </a:r>
          </a:p>
          <a:p>
            <a:pPr marL="342900" lvl="0" indent="-342900">
              <a:buFont typeface="Arial" panose="020B0604020202020204" pitchFamily="34" charset="0"/>
              <a:buChar char="•"/>
            </a:pPr>
            <a:r>
              <a:rPr lang="en-IN" sz="2000" b="1" dirty="0">
                <a:effectLst/>
                <a:latin typeface="Google Sans Text"/>
              </a:rPr>
              <a:t>Establishment:</a:t>
            </a:r>
            <a:r>
              <a:rPr lang="en-IN" sz="2000" dirty="0">
                <a:effectLst/>
                <a:latin typeface="Google Sans Text"/>
              </a:rPr>
              <a:t> Officially commissioned on </a:t>
            </a:r>
            <a:r>
              <a:rPr lang="en-IN" sz="2000" b="1" dirty="0">
                <a:effectLst/>
                <a:latin typeface="Google Sans Text"/>
              </a:rPr>
              <a:t>March 18, 2012</a:t>
            </a:r>
            <a:r>
              <a:rPr lang="en-IN" sz="2000" dirty="0">
                <a:effectLst/>
                <a:latin typeface="Google Sans Text"/>
              </a:rPr>
              <a:t>, making it India's third research base in Antarctica (after </a:t>
            </a:r>
            <a:r>
              <a:rPr lang="en-IN" sz="2000" i="1" dirty="0">
                <a:effectLst/>
                <a:latin typeface="Google Sans Text"/>
              </a:rPr>
              <a:t>Dakshin Gangotri</a:t>
            </a:r>
            <a:r>
              <a:rPr lang="en-IN" sz="2000" dirty="0">
                <a:effectLst/>
                <a:latin typeface="Google Sans Text"/>
              </a:rPr>
              <a:t> and </a:t>
            </a:r>
            <a:r>
              <a:rPr lang="en-IN" sz="2000" i="1" dirty="0">
                <a:effectLst/>
                <a:latin typeface="Google Sans Text"/>
              </a:rPr>
              <a:t>Maitri</a:t>
            </a:r>
            <a:r>
              <a:rPr lang="en-IN" sz="2000" dirty="0">
                <a:effectLst/>
                <a:latin typeface="Google Sans Text"/>
              </a:rPr>
              <a:t>). </a:t>
            </a:r>
          </a:p>
          <a:p>
            <a:pPr marL="342900" lvl="0" indent="-342900">
              <a:buFont typeface="Arial" panose="020B0604020202020204" pitchFamily="34" charset="0"/>
              <a:buChar char="•"/>
            </a:pPr>
            <a:r>
              <a:rPr lang="en-IN" sz="2000" b="1" dirty="0">
                <a:effectLst/>
                <a:latin typeface="Google Sans Text"/>
              </a:rPr>
              <a:t>Purpose:</a:t>
            </a:r>
            <a:r>
              <a:rPr lang="en-IN" sz="2000" dirty="0">
                <a:effectLst/>
                <a:latin typeface="Google Sans Text"/>
              </a:rPr>
              <a:t> Built to expand India's year-round scientific reach in Antarctica, focusing on ocean studies, atmospheric research, and continental history. </a:t>
            </a:r>
          </a:p>
          <a:p>
            <a:pPr marL="342900" lvl="0" indent="-342900">
              <a:buFont typeface="Arial" panose="020B0604020202020204" pitchFamily="34" charset="0"/>
              <a:buChar char="•"/>
            </a:pPr>
            <a:r>
              <a:rPr lang="en-IN" sz="2000" b="1" i="1" u="sng" dirty="0">
                <a:effectLst/>
                <a:latin typeface="Google Sans Text"/>
              </a:rPr>
              <a:t>Construction Feat:</a:t>
            </a:r>
            <a:r>
              <a:rPr lang="en-IN" sz="2000" i="1" u="sng" dirty="0">
                <a:effectLst/>
                <a:latin typeface="Google Sans Text"/>
              </a:rPr>
              <a:t> Constructed in a record 127 days using 134 prefabricated shipping containers joined together to withstand extreme sub-zero weather and high winds. </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913894" cy="577487"/>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Glory Code</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B92EB-DFA3-F2D1-4DE7-3C8EA2F39072}"/>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3000018B-2CC0-EF24-6D6D-7C971069D215}"/>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a:extLst>
              <a:ext uri="{FF2B5EF4-FFF2-40B4-BE49-F238E27FC236}">
                <a16:creationId xmlns:a16="http://schemas.microsoft.com/office/drawing/2014/main" id="{A22B5ABD-6E45-9188-8FC2-2B5D1BC1C3E4}"/>
              </a:ext>
            </a:extLst>
          </p:cNvPr>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BHARATI STATION</a:t>
            </a:r>
          </a:p>
        </p:txBody>
      </p:sp>
      <p:sp>
        <p:nvSpPr>
          <p:cNvPr id="6" name="Slide Number Placeholder 5">
            <a:extLst>
              <a:ext uri="{FF2B5EF4-FFF2-40B4-BE49-F238E27FC236}">
                <a16:creationId xmlns:a16="http://schemas.microsoft.com/office/drawing/2014/main" id="{DE1AA0BD-40C2-3470-7AE0-E8DBC70361F0}"/>
              </a:ext>
            </a:extLst>
          </p:cNvPr>
          <p:cNvSpPr>
            <a:spLocks noGrp="1"/>
          </p:cNvSpPr>
          <p:nvPr>
            <p:ph type="sldNum" sz="quarter" idx="12"/>
          </p:nvPr>
        </p:nvSpPr>
        <p:spPr/>
        <p:txBody>
          <a:bodyPr/>
          <a:lstStyle/>
          <a:p>
            <a:fld id="{677C3CE7-23F7-4828-823C-E0205DF2CF97}" type="slidenum">
              <a:rPr lang="en-US" b="1">
                <a:solidFill>
                  <a:schemeClr val="bg1"/>
                </a:solidFill>
              </a:rPr>
              <a:pPr/>
              <a:t>4</a:t>
            </a:fld>
            <a:endParaRPr lang="en-US" b="1" dirty="0">
              <a:solidFill>
                <a:schemeClr val="bg1"/>
              </a:solidFill>
            </a:endParaRPr>
          </a:p>
        </p:txBody>
      </p:sp>
      <p:sp>
        <p:nvSpPr>
          <p:cNvPr id="11" name="Oval 10" descr="Your startup LOGO">
            <a:extLst>
              <a:ext uri="{FF2B5EF4-FFF2-40B4-BE49-F238E27FC236}">
                <a16:creationId xmlns:a16="http://schemas.microsoft.com/office/drawing/2014/main" id="{B74DE1C9-EC55-F931-0711-03C1E500A141}"/>
              </a:ext>
              <a:ext uri="{C183D7F6-B498-43B3-948B-1728B52AA6E4}">
                <adec:decorative xmlns:adec="http://schemas.microsoft.com/office/drawing/2017/decorative" val="0"/>
              </a:ext>
            </a:extLst>
          </p:cNvPr>
          <p:cNvSpPr/>
          <p:nvPr/>
        </p:nvSpPr>
        <p:spPr>
          <a:xfrm>
            <a:off x="329773" y="252246"/>
            <a:ext cx="1736094" cy="526687"/>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Glory Code</a:t>
            </a:r>
            <a:endParaRPr lang="en-IN" dirty="0"/>
          </a:p>
        </p:txBody>
      </p:sp>
      <p:pic>
        <p:nvPicPr>
          <p:cNvPr id="12" name="Picture 11">
            <a:extLst>
              <a:ext uri="{FF2B5EF4-FFF2-40B4-BE49-F238E27FC236}">
                <a16:creationId xmlns:a16="http://schemas.microsoft.com/office/drawing/2014/main" id="{4B2432D4-E19C-3380-FF26-2014A209CC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E70CDC92-D6A1-8CA6-EED4-7BD73E736618}"/>
              </a:ext>
            </a:extLst>
          </p:cNvPr>
          <p:cNvPicPr>
            <a:picLocks noChangeAspect="1"/>
          </p:cNvPicPr>
          <p:nvPr/>
        </p:nvPicPr>
        <p:blipFill>
          <a:blip r:embed="rId4"/>
          <a:stretch>
            <a:fillRect/>
          </a:stretch>
        </p:blipFill>
        <p:spPr>
          <a:xfrm>
            <a:off x="9129887" y="1572252"/>
            <a:ext cx="2745857" cy="1975281"/>
          </a:xfrm>
          <a:prstGeom prst="rect">
            <a:avLst/>
          </a:prstGeom>
        </p:spPr>
      </p:pic>
      <p:sp>
        <p:nvSpPr>
          <p:cNvPr id="4" name="TextBox 3">
            <a:extLst>
              <a:ext uri="{FF2B5EF4-FFF2-40B4-BE49-F238E27FC236}">
                <a16:creationId xmlns:a16="http://schemas.microsoft.com/office/drawing/2014/main" id="{99862BBB-CA27-4EA8-3D4D-5ADFA2AE9477}"/>
              </a:ext>
            </a:extLst>
          </p:cNvPr>
          <p:cNvSpPr txBox="1"/>
          <p:nvPr/>
        </p:nvSpPr>
        <p:spPr>
          <a:xfrm>
            <a:off x="139792" y="1359451"/>
            <a:ext cx="7128084" cy="4524315"/>
          </a:xfrm>
          <a:prstGeom prst="rect">
            <a:avLst/>
          </a:prstGeom>
          <a:noFill/>
        </p:spPr>
        <p:txBody>
          <a:bodyPr wrap="square" rtlCol="0">
            <a:spAutoFit/>
          </a:bodyPr>
          <a:lstStyle/>
          <a:p>
            <a:pPr>
              <a:buNone/>
            </a:pPr>
            <a:r>
              <a:rPr lang="en-IN" b="1" dirty="0">
                <a:effectLst/>
                <a:latin typeface="Google Sans Text"/>
              </a:rPr>
              <a:t>Personnel &amp; Capacity</a:t>
            </a:r>
            <a:endParaRPr lang="en-IN" dirty="0">
              <a:effectLst/>
              <a:latin typeface="Google Sans Text"/>
            </a:endParaRPr>
          </a:p>
          <a:p>
            <a:pPr marL="342900" lvl="0" indent="-342900">
              <a:buFont typeface="Arial" panose="020B0604020202020204" pitchFamily="34" charset="0"/>
              <a:buChar char="•"/>
            </a:pPr>
            <a:r>
              <a:rPr lang="en-IN" b="1" dirty="0">
                <a:effectLst/>
                <a:latin typeface="Google Sans Text"/>
              </a:rPr>
              <a:t>Year-Round Capacity:</a:t>
            </a:r>
            <a:r>
              <a:rPr lang="en-IN" dirty="0">
                <a:effectLst/>
                <a:latin typeface="Google Sans Text"/>
              </a:rPr>
              <a:t> 47 people (main facility) </a:t>
            </a:r>
          </a:p>
          <a:p>
            <a:pPr marL="342900" lvl="0" indent="-342900">
              <a:buFont typeface="Arial" panose="020B0604020202020204" pitchFamily="34" charset="0"/>
              <a:buChar char="•"/>
            </a:pPr>
            <a:r>
              <a:rPr lang="en-IN" b="1" dirty="0">
                <a:effectLst/>
                <a:latin typeface="Google Sans Text"/>
              </a:rPr>
              <a:t>Peak Summer Capacity:</a:t>
            </a:r>
            <a:r>
              <a:rPr lang="en-IN" dirty="0">
                <a:effectLst/>
                <a:latin typeface="Google Sans Text"/>
              </a:rPr>
              <a:t> Up to 72 people (47 in the main station + 25 in emergency shelters) </a:t>
            </a:r>
          </a:p>
          <a:p>
            <a:pPr marL="342900" lvl="0" indent="-342900">
              <a:buFont typeface="Arial" panose="020B0604020202020204" pitchFamily="34" charset="0"/>
              <a:buChar char="•"/>
            </a:pPr>
            <a:r>
              <a:rPr lang="en-IN" b="1" dirty="0">
                <a:effectLst/>
                <a:latin typeface="Google Sans Text"/>
              </a:rPr>
              <a:t>Average Occupancy:</a:t>
            </a:r>
            <a:r>
              <a:rPr lang="en-IN" dirty="0">
                <a:effectLst/>
                <a:latin typeface="Google Sans Text"/>
              </a:rPr>
              <a:t> ~45–50 in summer; ~20–25 in winter</a:t>
            </a:r>
          </a:p>
          <a:p>
            <a:pPr>
              <a:buNone/>
            </a:pPr>
            <a:r>
              <a:rPr lang="en-IN" b="1" dirty="0">
                <a:effectLst/>
                <a:latin typeface="Google Sans Text"/>
              </a:rPr>
              <a:t>Location</a:t>
            </a:r>
            <a:endParaRPr lang="en-IN" dirty="0">
              <a:effectLst/>
              <a:latin typeface="Google Sans Text"/>
            </a:endParaRPr>
          </a:p>
          <a:p>
            <a:pPr marL="342900" lvl="0" indent="-342900">
              <a:buFont typeface="Arial" panose="020B0604020202020204" pitchFamily="34" charset="0"/>
              <a:buChar char="•"/>
            </a:pPr>
            <a:r>
              <a:rPr lang="en-IN" b="1" dirty="0">
                <a:effectLst/>
                <a:latin typeface="Google Sans Text"/>
              </a:rPr>
              <a:t>Where:</a:t>
            </a:r>
            <a:r>
              <a:rPr lang="en-IN" dirty="0">
                <a:effectLst/>
                <a:latin typeface="Google Sans Text"/>
              </a:rPr>
              <a:t> </a:t>
            </a:r>
            <a:r>
              <a:rPr lang="en-IN" dirty="0" err="1">
                <a:effectLst/>
                <a:latin typeface="Google Sans Text"/>
              </a:rPr>
              <a:t>Larsemann</a:t>
            </a:r>
            <a:r>
              <a:rPr lang="en-IN" dirty="0">
                <a:effectLst/>
                <a:latin typeface="Google Sans Text"/>
              </a:rPr>
              <a:t> Hills along Prydz Bay in East Antarctica. </a:t>
            </a:r>
          </a:p>
          <a:p>
            <a:pPr marL="342900" lvl="0" indent="-342900">
              <a:buFont typeface="Arial" panose="020B0604020202020204" pitchFamily="34" charset="0"/>
              <a:buChar char="•"/>
            </a:pPr>
            <a:r>
              <a:rPr lang="en-IN" b="1" dirty="0">
                <a:effectLst/>
                <a:latin typeface="Google Sans Text"/>
              </a:rPr>
              <a:t>Setting:</a:t>
            </a:r>
            <a:r>
              <a:rPr lang="en-IN" dirty="0">
                <a:effectLst/>
                <a:latin typeface="Google Sans Text"/>
              </a:rPr>
              <a:t> A rocky, snow-free peninsula elevated ~35 meters above sea level and ~50 meters from the coast. </a:t>
            </a:r>
          </a:p>
          <a:p>
            <a:pPr marL="342900" lvl="0" indent="-342900">
              <a:buFont typeface="Arial" panose="020B0604020202020204" pitchFamily="34" charset="0"/>
              <a:buChar char="•"/>
            </a:pPr>
            <a:r>
              <a:rPr lang="en-IN" b="1" dirty="0">
                <a:effectLst/>
                <a:latin typeface="Google Sans Text"/>
              </a:rPr>
              <a:t>Distance:</a:t>
            </a:r>
            <a:r>
              <a:rPr lang="en-IN" dirty="0">
                <a:effectLst/>
                <a:latin typeface="Google Sans Text"/>
              </a:rPr>
              <a:t> ~3,000 km east of India's Maitri station.</a:t>
            </a:r>
          </a:p>
          <a:p>
            <a:pPr>
              <a:buNone/>
            </a:pPr>
            <a:r>
              <a:rPr lang="en-IN" b="1" dirty="0">
                <a:effectLst/>
                <a:latin typeface="Google Sans Text"/>
              </a:rPr>
              <a:t>History &amp; Construction</a:t>
            </a:r>
            <a:endParaRPr lang="en-IN" dirty="0">
              <a:effectLst/>
              <a:latin typeface="Google Sans Text"/>
            </a:endParaRPr>
          </a:p>
          <a:p>
            <a:pPr marL="342900" lvl="0" indent="-342900">
              <a:buFont typeface="Arial" panose="020B0604020202020204" pitchFamily="34" charset="0"/>
              <a:buChar char="•"/>
            </a:pPr>
            <a:r>
              <a:rPr lang="en-IN" b="1" dirty="0">
                <a:effectLst/>
                <a:latin typeface="Google Sans Text"/>
              </a:rPr>
              <a:t>Commissioned:</a:t>
            </a:r>
            <a:r>
              <a:rPr lang="en-IN" dirty="0">
                <a:effectLst/>
                <a:latin typeface="Google Sans Text"/>
              </a:rPr>
              <a:t> March 18, 2012, as India's 3rd research station. </a:t>
            </a:r>
          </a:p>
          <a:p>
            <a:pPr marL="342900" lvl="0" indent="-342900">
              <a:buFont typeface="Arial" panose="020B0604020202020204" pitchFamily="34" charset="0"/>
              <a:buChar char="•"/>
            </a:pPr>
            <a:r>
              <a:rPr lang="en-IN" b="1" dirty="0">
                <a:effectLst/>
                <a:latin typeface="Google Sans Text"/>
              </a:rPr>
              <a:t>Build Time:</a:t>
            </a:r>
            <a:r>
              <a:rPr lang="en-IN" dirty="0">
                <a:effectLst/>
                <a:latin typeface="Google Sans Text"/>
              </a:rPr>
              <a:t> Built in a record 127 days using 134 prefabricated shipping containers. </a:t>
            </a:r>
          </a:p>
          <a:p>
            <a:pPr marL="342900" lvl="0" indent="-342900">
              <a:buFont typeface="Arial" panose="020B0604020202020204" pitchFamily="34" charset="0"/>
              <a:buChar char="•"/>
            </a:pPr>
            <a:r>
              <a:rPr lang="en-IN" b="1" dirty="0">
                <a:effectLst/>
                <a:latin typeface="Google Sans Text"/>
              </a:rPr>
              <a:t>Primary Mission:</a:t>
            </a:r>
            <a:r>
              <a:rPr lang="en-IN" dirty="0">
                <a:effectLst/>
                <a:latin typeface="Google Sans Text"/>
              </a:rPr>
              <a:t> Oceanography, continental drift studies, and Earth observation satellite data reception for ISRO. </a:t>
            </a:r>
          </a:p>
        </p:txBody>
      </p:sp>
      <p:pic>
        <p:nvPicPr>
          <p:cNvPr id="8" name="Picture 7">
            <a:extLst>
              <a:ext uri="{FF2B5EF4-FFF2-40B4-BE49-F238E27FC236}">
                <a16:creationId xmlns:a16="http://schemas.microsoft.com/office/drawing/2014/main" id="{B14ED935-120A-8D76-BE2F-DE6CC66896EC}"/>
              </a:ext>
            </a:extLst>
          </p:cNvPr>
          <p:cNvPicPr>
            <a:picLocks noChangeAspect="1"/>
          </p:cNvPicPr>
          <p:nvPr/>
        </p:nvPicPr>
        <p:blipFill>
          <a:blip r:embed="rId5"/>
          <a:stretch>
            <a:fillRect/>
          </a:stretch>
        </p:blipFill>
        <p:spPr>
          <a:xfrm>
            <a:off x="7529268" y="4018529"/>
            <a:ext cx="3201237" cy="1696508"/>
          </a:xfrm>
          <a:prstGeom prst="rect">
            <a:avLst/>
          </a:prstGeom>
        </p:spPr>
      </p:pic>
    </p:spTree>
    <p:extLst>
      <p:ext uri="{BB962C8B-B14F-4D97-AF65-F5344CB8AC3E}">
        <p14:creationId xmlns:p14="http://schemas.microsoft.com/office/powerpoint/2010/main" val="4254905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About the ML Model</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896960" cy="503238"/>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Glory Code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 name="TextBox 2">
            <a:extLst>
              <a:ext uri="{FF2B5EF4-FFF2-40B4-BE49-F238E27FC236}">
                <a16:creationId xmlns:a16="http://schemas.microsoft.com/office/drawing/2014/main" id="{648F833F-D6E5-F77A-8CC5-B50E69E09EF6}"/>
              </a:ext>
            </a:extLst>
          </p:cNvPr>
          <p:cNvSpPr txBox="1"/>
          <p:nvPr/>
        </p:nvSpPr>
        <p:spPr>
          <a:xfrm>
            <a:off x="955701" y="1144500"/>
            <a:ext cx="10331115" cy="4010526"/>
          </a:xfrm>
          <a:prstGeom prst="rect">
            <a:avLst/>
          </a:prstGeom>
          <a:noFill/>
        </p:spPr>
        <p:txBody>
          <a:bodyPr wrap="square" rtlCol="0">
            <a:spAutoFit/>
          </a:bodyPr>
          <a:lstStyle/>
          <a:p>
            <a:r>
              <a:rPr lang="en-US" dirty="0"/>
              <a:t>The ML model learns the relationship between expedition parameters and historical resource requirements. The model is evaluated using Leave-One-Out Cross-Validation (LOOCV) Principle.</a:t>
            </a:r>
          </a:p>
          <a:p>
            <a:endParaRPr lang="en-US" dirty="0"/>
          </a:p>
          <a:p>
            <a:r>
              <a:rPr lang="en-US" dirty="0"/>
              <a:t>LOOCV works by using all but one observation for training and the remaining observation for testing. This process is repeated until every observation has been used once as the test sample.</a:t>
            </a:r>
          </a:p>
          <a:p>
            <a:endParaRPr lang="en-US" dirty="0"/>
          </a:p>
          <a:p>
            <a:endParaRPr lang="en-US" dirty="0"/>
          </a:p>
          <a:p>
            <a:r>
              <a:rPr lang="en-US" dirty="0"/>
              <a:t>Example:</a:t>
            </a:r>
          </a:p>
          <a:p>
            <a:r>
              <a:rPr lang="en-US" dirty="0"/>
              <a:t>Round 1: Train → Rows 2 + 3 | Test → Row 1</a:t>
            </a:r>
            <a:br>
              <a:rPr lang="en-US" dirty="0"/>
            </a:br>
            <a:r>
              <a:rPr lang="en-US" dirty="0"/>
              <a:t>Round 2: Train → Rows 1 + 3 | Test → Row 2</a:t>
            </a:r>
            <a:br>
              <a:rPr lang="en-US" dirty="0"/>
            </a:br>
            <a:r>
              <a:rPr lang="en-US" dirty="0"/>
              <a:t>Round 3: Train → Rows 1 + 2 | Test → Row 3</a:t>
            </a:r>
          </a:p>
          <a:p>
            <a:endParaRPr lang="en-US" dirty="0"/>
          </a:p>
          <a:p>
            <a:r>
              <a:rPr lang="en-US" dirty="0"/>
              <a:t>The predictions from each round are compared with the actual values to calculate the model's prediction error.</a:t>
            </a:r>
          </a:p>
        </p:txBody>
      </p:sp>
      <p:sp>
        <p:nvSpPr>
          <p:cNvPr id="4" name="Rectangle 3">
            <a:extLst>
              <a:ext uri="{FF2B5EF4-FFF2-40B4-BE49-F238E27FC236}">
                <a16:creationId xmlns:a16="http://schemas.microsoft.com/office/drawing/2014/main" id="{B527469E-A651-0354-4BC4-237B39855896}"/>
              </a:ext>
            </a:extLst>
          </p:cNvPr>
          <p:cNvSpPr/>
          <p:nvPr/>
        </p:nvSpPr>
        <p:spPr>
          <a:xfrm>
            <a:off x="955701" y="5358063"/>
            <a:ext cx="10498362" cy="86017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latin typeface="Aptos" panose="020B0004020202020204" pitchFamily="34" charset="0"/>
            </a:endParaRPr>
          </a:p>
          <a:p>
            <a:pPr algn="ctr"/>
            <a:r>
              <a:rPr lang="en-IN" dirty="0">
                <a:latin typeface="Aptos" panose="020B0004020202020204" pitchFamily="34" charset="0"/>
              </a:rPr>
              <a:t>Maximize use of limited data → Evaluate generalization → Estimate prediction reliability</a:t>
            </a:r>
          </a:p>
          <a:p>
            <a:pPr algn="ctr"/>
            <a:endParaRPr lang="en-IN" dirty="0"/>
          </a:p>
        </p:txBody>
      </p:sp>
    </p:spTree>
    <p:extLst>
      <p:ext uri="{BB962C8B-B14F-4D97-AF65-F5344CB8AC3E}">
        <p14:creationId xmlns:p14="http://schemas.microsoft.com/office/powerpoint/2010/main" val="3753387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a:xfrm>
            <a:off x="609600" y="-81996"/>
            <a:ext cx="9795933" cy="1156126"/>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ML Machinery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228173" y="192980"/>
            <a:ext cx="1922360" cy="645220"/>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Glory Code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TextBox 1">
            <a:extLst>
              <a:ext uri="{FF2B5EF4-FFF2-40B4-BE49-F238E27FC236}">
                <a16:creationId xmlns:a16="http://schemas.microsoft.com/office/drawing/2014/main" id="{028011FB-60A1-5D10-C746-BC39AAF74E97}"/>
              </a:ext>
            </a:extLst>
          </p:cNvPr>
          <p:cNvSpPr txBox="1"/>
          <p:nvPr/>
        </p:nvSpPr>
        <p:spPr>
          <a:xfrm>
            <a:off x="77606" y="1240917"/>
            <a:ext cx="8219725" cy="4643416"/>
          </a:xfrm>
          <a:prstGeom prst="rect">
            <a:avLst/>
          </a:prstGeom>
          <a:noFill/>
        </p:spPr>
        <p:txBody>
          <a:bodyPr wrap="square" rtlCol="0">
            <a:spAutoFit/>
          </a:bodyPr>
          <a:lstStyle/>
          <a:p>
            <a:pPr marL="285750" indent="-285750">
              <a:buFont typeface="Arial" panose="020B0604020202020204" pitchFamily="34" charset="0"/>
              <a:buChar char="•"/>
            </a:pPr>
            <a:r>
              <a:rPr lang="en-US" b="1" dirty="0"/>
              <a:t>Input Features</a:t>
            </a:r>
            <a:r>
              <a:rPr lang="en-US" dirty="0"/>
              <a:t>: Personnel count, expedition duration, and season are provided as inputs to the model.</a:t>
            </a:r>
          </a:p>
          <a:p>
            <a:pPr marL="285750" indent="-285750">
              <a:buFont typeface="Arial" panose="020B0604020202020204" pitchFamily="34" charset="0"/>
              <a:buChar char="•"/>
            </a:pPr>
            <a:r>
              <a:rPr lang="en-US" b="1" dirty="0"/>
              <a:t>Historical Data</a:t>
            </a:r>
            <a:r>
              <a:rPr lang="en-US" dirty="0"/>
              <a:t>: Past expedition/station data is used to identify patterns between these inputs and resource consumption.</a:t>
            </a:r>
          </a:p>
          <a:p>
            <a:pPr marL="285750" indent="-285750">
              <a:buFont typeface="Arial" panose="020B0604020202020204" pitchFamily="34" charset="0"/>
              <a:buChar char="•"/>
            </a:pPr>
            <a:r>
              <a:rPr lang="en-US" b="1" dirty="0"/>
              <a:t>Data Preprocessing</a:t>
            </a:r>
            <a:r>
              <a:rPr lang="en-US" dirty="0"/>
              <a:t>: Data is cleaned and converted into a format suitable for machine learning</a:t>
            </a:r>
          </a:p>
          <a:p>
            <a:pPr marL="285750" indent="-285750">
              <a:buFont typeface="Arial" panose="020B0604020202020204" pitchFamily="34" charset="0"/>
              <a:buChar char="•"/>
            </a:pPr>
            <a:r>
              <a:rPr lang="en-US" b="1" dirty="0"/>
              <a:t>Supervised Learning</a:t>
            </a:r>
            <a:r>
              <a:rPr lang="en-US" dirty="0"/>
              <a:t>: The model learns from historical inputs along with their corresponding resource requirements. </a:t>
            </a:r>
          </a:p>
          <a:p>
            <a:pPr marL="285750" indent="-285750">
              <a:buFont typeface="Arial" panose="020B0604020202020204" pitchFamily="34" charset="0"/>
              <a:buChar char="•"/>
            </a:pPr>
            <a:r>
              <a:rPr lang="en-US" b="1" dirty="0"/>
              <a:t>Regression</a:t>
            </a:r>
            <a:r>
              <a:rPr lang="en-US" dirty="0"/>
              <a:t>: The model predicts continuous quantities such as food, fuel, energy, and other supplies. It uses Ridge Regression ML Model.</a:t>
            </a:r>
          </a:p>
          <a:p>
            <a:pPr marL="285750" indent="-285750">
              <a:buFont typeface="Arial" panose="020B0604020202020204" pitchFamily="34" charset="0"/>
              <a:buChar char="•"/>
            </a:pPr>
            <a:r>
              <a:rPr lang="en-US" b="1" dirty="0"/>
              <a:t>Model Validation</a:t>
            </a:r>
            <a:r>
              <a:rPr lang="en-US" dirty="0"/>
              <a:t>: </a:t>
            </a:r>
            <a:r>
              <a:rPr lang="en-US" b="1" dirty="0"/>
              <a:t>Leave-One-Out Cross-Validation (LOOCV) </a:t>
            </a:r>
            <a:r>
              <a:rPr lang="en-US" dirty="0"/>
              <a:t>is used to evaluate the model with the limited available dataset. </a:t>
            </a:r>
          </a:p>
          <a:p>
            <a:pPr marL="285750" indent="-285750">
              <a:buFont typeface="Arial" panose="020B0604020202020204" pitchFamily="34" charset="0"/>
              <a:buChar char="•"/>
            </a:pPr>
            <a:r>
              <a:rPr lang="en-US" b="1" dirty="0"/>
              <a:t>Prediction</a:t>
            </a:r>
            <a:r>
              <a:rPr lang="en-US" dirty="0"/>
              <a:t>: Once validated, the trained model receives new expedition parameters and estimates the required resources. </a:t>
            </a:r>
          </a:p>
          <a:p>
            <a:pPr marL="285750" indent="-285750">
              <a:buFont typeface="Arial" panose="020B0604020202020204" pitchFamily="34" charset="0"/>
              <a:buChar char="•"/>
            </a:pPr>
            <a:r>
              <a:rPr lang="en-US" b="1" dirty="0"/>
              <a:t>Digital Twin Integration</a:t>
            </a:r>
            <a:r>
              <a:rPr lang="en-US" dirty="0"/>
              <a:t>: These predictions are passed to the Digital Twin to simulate resource consumption and identify potential shortages.</a:t>
            </a:r>
          </a:p>
        </p:txBody>
      </p:sp>
      <p:sp>
        <p:nvSpPr>
          <p:cNvPr id="5" name="Rectangle 4">
            <a:extLst>
              <a:ext uri="{FF2B5EF4-FFF2-40B4-BE49-F238E27FC236}">
                <a16:creationId xmlns:a16="http://schemas.microsoft.com/office/drawing/2014/main" id="{CCF0617D-1D84-DB84-49B6-774C858BD556}"/>
              </a:ext>
            </a:extLst>
          </p:cNvPr>
          <p:cNvSpPr/>
          <p:nvPr/>
        </p:nvSpPr>
        <p:spPr>
          <a:xfrm>
            <a:off x="8415867" y="1359451"/>
            <a:ext cx="3344333" cy="37844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t>User</a:t>
            </a:r>
          </a:p>
        </p:txBody>
      </p:sp>
      <p:sp>
        <p:nvSpPr>
          <p:cNvPr id="9" name="Rectangle 8">
            <a:extLst>
              <a:ext uri="{FF2B5EF4-FFF2-40B4-BE49-F238E27FC236}">
                <a16:creationId xmlns:a16="http://schemas.microsoft.com/office/drawing/2014/main" id="{10C6D345-D145-5594-D0FE-BAAE78EB2CE9}"/>
              </a:ext>
            </a:extLst>
          </p:cNvPr>
          <p:cNvSpPr/>
          <p:nvPr/>
        </p:nvSpPr>
        <p:spPr>
          <a:xfrm>
            <a:off x="8415866" y="2027491"/>
            <a:ext cx="3344333" cy="37844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t>Frontend: User Inputs</a:t>
            </a:r>
          </a:p>
        </p:txBody>
      </p:sp>
      <p:sp>
        <p:nvSpPr>
          <p:cNvPr id="14" name="Rectangle 13">
            <a:extLst>
              <a:ext uri="{FF2B5EF4-FFF2-40B4-BE49-F238E27FC236}">
                <a16:creationId xmlns:a16="http://schemas.microsoft.com/office/drawing/2014/main" id="{4B4F92E6-95CA-0AD1-6177-CC955285AB5E}"/>
              </a:ext>
            </a:extLst>
          </p:cNvPr>
          <p:cNvSpPr/>
          <p:nvPr/>
        </p:nvSpPr>
        <p:spPr>
          <a:xfrm>
            <a:off x="8415862" y="4564799"/>
            <a:ext cx="3344333" cy="37844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t>Predicted Resources</a:t>
            </a:r>
          </a:p>
        </p:txBody>
      </p:sp>
      <p:sp>
        <p:nvSpPr>
          <p:cNvPr id="16" name="Rectangle 15">
            <a:extLst>
              <a:ext uri="{FF2B5EF4-FFF2-40B4-BE49-F238E27FC236}">
                <a16:creationId xmlns:a16="http://schemas.microsoft.com/office/drawing/2014/main" id="{009BB3DF-817D-5F13-37C2-75F915C1EFFA}"/>
              </a:ext>
            </a:extLst>
          </p:cNvPr>
          <p:cNvSpPr/>
          <p:nvPr/>
        </p:nvSpPr>
        <p:spPr>
          <a:xfrm>
            <a:off x="8415863" y="3953799"/>
            <a:ext cx="3344333" cy="37844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t>ML Model: Linear Regression</a:t>
            </a:r>
          </a:p>
        </p:txBody>
      </p:sp>
      <p:sp>
        <p:nvSpPr>
          <p:cNvPr id="18" name="Rectangle 17">
            <a:extLst>
              <a:ext uri="{FF2B5EF4-FFF2-40B4-BE49-F238E27FC236}">
                <a16:creationId xmlns:a16="http://schemas.microsoft.com/office/drawing/2014/main" id="{4238D77C-B1DE-EE57-0C2C-96B3DDD736E2}"/>
              </a:ext>
            </a:extLst>
          </p:cNvPr>
          <p:cNvSpPr/>
          <p:nvPr/>
        </p:nvSpPr>
        <p:spPr>
          <a:xfrm>
            <a:off x="8415865" y="2707916"/>
            <a:ext cx="3344333" cy="37844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t>Backend: Basic Logic</a:t>
            </a:r>
          </a:p>
        </p:txBody>
      </p:sp>
      <p:sp>
        <p:nvSpPr>
          <p:cNvPr id="20" name="Rectangle 19">
            <a:extLst>
              <a:ext uri="{FF2B5EF4-FFF2-40B4-BE49-F238E27FC236}">
                <a16:creationId xmlns:a16="http://schemas.microsoft.com/office/drawing/2014/main" id="{740C1871-6563-8FB6-FD0C-D960BFEE5F01}"/>
              </a:ext>
            </a:extLst>
          </p:cNvPr>
          <p:cNvSpPr/>
          <p:nvPr/>
        </p:nvSpPr>
        <p:spPr>
          <a:xfrm>
            <a:off x="8415864" y="3338049"/>
            <a:ext cx="3344333" cy="37844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t>Prediction Engine: Data Validation</a:t>
            </a:r>
          </a:p>
        </p:txBody>
      </p:sp>
      <p:sp>
        <p:nvSpPr>
          <p:cNvPr id="22" name="Rectangle 21">
            <a:extLst>
              <a:ext uri="{FF2B5EF4-FFF2-40B4-BE49-F238E27FC236}">
                <a16:creationId xmlns:a16="http://schemas.microsoft.com/office/drawing/2014/main" id="{A0954276-7A3D-DE9E-4129-0D990941AB5B}"/>
              </a:ext>
            </a:extLst>
          </p:cNvPr>
          <p:cNvSpPr/>
          <p:nvPr/>
        </p:nvSpPr>
        <p:spPr>
          <a:xfrm>
            <a:off x="8415861" y="5175799"/>
            <a:ext cx="3344333" cy="37844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t>Digital Twin</a:t>
            </a:r>
          </a:p>
        </p:txBody>
      </p:sp>
      <p:cxnSp>
        <p:nvCxnSpPr>
          <p:cNvPr id="24" name="Straight Arrow Connector 23">
            <a:extLst>
              <a:ext uri="{FF2B5EF4-FFF2-40B4-BE49-F238E27FC236}">
                <a16:creationId xmlns:a16="http://schemas.microsoft.com/office/drawing/2014/main" id="{BE88D747-3ACA-3F64-730F-F04DAEFE3AD8}"/>
              </a:ext>
            </a:extLst>
          </p:cNvPr>
          <p:cNvCxnSpPr>
            <a:stCxn id="5" idx="2"/>
            <a:endCxn id="9" idx="0"/>
          </p:cNvCxnSpPr>
          <p:nvPr/>
        </p:nvCxnSpPr>
        <p:spPr>
          <a:xfrm flipH="1">
            <a:off x="10088033" y="1737893"/>
            <a:ext cx="1" cy="2895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C2589E4F-F49E-E705-CB36-C915E63EEB62}"/>
              </a:ext>
            </a:extLst>
          </p:cNvPr>
          <p:cNvCxnSpPr/>
          <p:nvPr/>
        </p:nvCxnSpPr>
        <p:spPr>
          <a:xfrm flipH="1">
            <a:off x="10088033" y="2424549"/>
            <a:ext cx="1" cy="2895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44280007-566D-8DFE-D476-793CE3CFF82A}"/>
              </a:ext>
            </a:extLst>
          </p:cNvPr>
          <p:cNvCxnSpPr/>
          <p:nvPr/>
        </p:nvCxnSpPr>
        <p:spPr>
          <a:xfrm flipH="1">
            <a:off x="10083793" y="3048716"/>
            <a:ext cx="1" cy="2895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EE8033B5-84A4-AD75-153D-787520675CFC}"/>
              </a:ext>
            </a:extLst>
          </p:cNvPr>
          <p:cNvCxnSpPr/>
          <p:nvPr/>
        </p:nvCxnSpPr>
        <p:spPr>
          <a:xfrm flipH="1">
            <a:off x="10083786" y="3666383"/>
            <a:ext cx="1" cy="2895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6266B68C-5BC1-10DE-04DF-90F664D4CA43}"/>
              </a:ext>
            </a:extLst>
          </p:cNvPr>
          <p:cNvCxnSpPr/>
          <p:nvPr/>
        </p:nvCxnSpPr>
        <p:spPr>
          <a:xfrm flipH="1">
            <a:off x="10066839" y="4264908"/>
            <a:ext cx="1" cy="2895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B6A4685D-639D-C33F-2E06-6761B352B1FF}"/>
              </a:ext>
            </a:extLst>
          </p:cNvPr>
          <p:cNvCxnSpPr/>
          <p:nvPr/>
        </p:nvCxnSpPr>
        <p:spPr>
          <a:xfrm flipH="1">
            <a:off x="10066838" y="4902574"/>
            <a:ext cx="1" cy="2895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97144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F8853-DB5F-51E8-BEDB-6DC29D4C9780}"/>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25DA0E54-7857-91F3-7588-2631978AD021}"/>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a:extLst>
              <a:ext uri="{FF2B5EF4-FFF2-40B4-BE49-F238E27FC236}">
                <a16:creationId xmlns:a16="http://schemas.microsoft.com/office/drawing/2014/main" id="{D33A8B5E-D58A-16E6-6FE2-A8CD61F68CE8}"/>
              </a:ext>
            </a:extLst>
          </p:cNvPr>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Logic of the Model</a:t>
            </a:r>
          </a:p>
        </p:txBody>
      </p:sp>
      <p:sp>
        <p:nvSpPr>
          <p:cNvPr id="6" name="Slide Number Placeholder 5">
            <a:extLst>
              <a:ext uri="{FF2B5EF4-FFF2-40B4-BE49-F238E27FC236}">
                <a16:creationId xmlns:a16="http://schemas.microsoft.com/office/drawing/2014/main" id="{F9728810-ABFD-4E0F-0ACF-F28D55540B6B}"/>
              </a:ext>
            </a:extLst>
          </p:cNvPr>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9" name="Oval 8" descr="Your startup LOGO">
            <a:extLst>
              <a:ext uri="{FF2B5EF4-FFF2-40B4-BE49-F238E27FC236}">
                <a16:creationId xmlns:a16="http://schemas.microsoft.com/office/drawing/2014/main" id="{9375630A-CB7C-303F-ECDC-AD2CDF2C7744}"/>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Glory Code</a:t>
            </a:r>
            <a:endParaRPr lang="en-IN" dirty="0"/>
          </a:p>
        </p:txBody>
      </p:sp>
      <p:pic>
        <p:nvPicPr>
          <p:cNvPr id="12" name="Picture 11">
            <a:extLst>
              <a:ext uri="{FF2B5EF4-FFF2-40B4-BE49-F238E27FC236}">
                <a16:creationId xmlns:a16="http://schemas.microsoft.com/office/drawing/2014/main" id="{27E01954-1B96-0716-798C-684ADDF21E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4" name="Rectangle 3">
            <a:extLst>
              <a:ext uri="{FF2B5EF4-FFF2-40B4-BE49-F238E27FC236}">
                <a16:creationId xmlns:a16="http://schemas.microsoft.com/office/drawing/2014/main" id="{DDFF4F84-9741-ED94-B182-940DD4478781}"/>
              </a:ext>
            </a:extLst>
          </p:cNvPr>
          <p:cNvSpPr/>
          <p:nvPr/>
        </p:nvSpPr>
        <p:spPr>
          <a:xfrm>
            <a:off x="2005263" y="1241822"/>
            <a:ext cx="3256548" cy="50323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t>User Input</a:t>
            </a:r>
          </a:p>
        </p:txBody>
      </p:sp>
      <p:sp>
        <p:nvSpPr>
          <p:cNvPr id="8" name="Rectangle 7">
            <a:extLst>
              <a:ext uri="{FF2B5EF4-FFF2-40B4-BE49-F238E27FC236}">
                <a16:creationId xmlns:a16="http://schemas.microsoft.com/office/drawing/2014/main" id="{60389BA7-2627-9B58-E4E5-4CD351E3EBD6}"/>
              </a:ext>
            </a:extLst>
          </p:cNvPr>
          <p:cNvSpPr/>
          <p:nvPr/>
        </p:nvSpPr>
        <p:spPr>
          <a:xfrm>
            <a:off x="2005264" y="2025071"/>
            <a:ext cx="3256548" cy="50323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t>Baseline Prediction</a:t>
            </a:r>
          </a:p>
        </p:txBody>
      </p:sp>
      <p:sp>
        <p:nvSpPr>
          <p:cNvPr id="13" name="Rectangle 12">
            <a:extLst>
              <a:ext uri="{FF2B5EF4-FFF2-40B4-BE49-F238E27FC236}">
                <a16:creationId xmlns:a16="http://schemas.microsoft.com/office/drawing/2014/main" id="{A3CAD703-F469-2E3D-D45E-7243F436BB30}"/>
              </a:ext>
            </a:extLst>
          </p:cNvPr>
          <p:cNvSpPr/>
          <p:nvPr/>
        </p:nvSpPr>
        <p:spPr>
          <a:xfrm>
            <a:off x="2005263" y="3812074"/>
            <a:ext cx="3256548" cy="50323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t>ML Reliable</a:t>
            </a:r>
          </a:p>
        </p:txBody>
      </p:sp>
      <p:sp>
        <p:nvSpPr>
          <p:cNvPr id="15" name="Rectangle 14">
            <a:extLst>
              <a:ext uri="{FF2B5EF4-FFF2-40B4-BE49-F238E27FC236}">
                <a16:creationId xmlns:a16="http://schemas.microsoft.com/office/drawing/2014/main" id="{DF8F753D-DB79-EBA8-7719-4D2641B2BB17}"/>
              </a:ext>
            </a:extLst>
          </p:cNvPr>
          <p:cNvSpPr/>
          <p:nvPr/>
        </p:nvSpPr>
        <p:spPr>
          <a:xfrm>
            <a:off x="2005263" y="2911999"/>
            <a:ext cx="3256548" cy="50323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t>Check ML Reliability</a:t>
            </a:r>
          </a:p>
        </p:txBody>
      </p:sp>
      <p:sp>
        <p:nvSpPr>
          <p:cNvPr id="19" name="Rectangle 18">
            <a:extLst>
              <a:ext uri="{FF2B5EF4-FFF2-40B4-BE49-F238E27FC236}">
                <a16:creationId xmlns:a16="http://schemas.microsoft.com/office/drawing/2014/main" id="{0BD647BE-DD51-108C-1FB0-DA72190E4988}"/>
              </a:ext>
            </a:extLst>
          </p:cNvPr>
          <p:cNvSpPr/>
          <p:nvPr/>
        </p:nvSpPr>
        <p:spPr>
          <a:xfrm>
            <a:off x="2005263" y="5427907"/>
            <a:ext cx="3256548" cy="50323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t>Baseline Prediction</a:t>
            </a:r>
          </a:p>
        </p:txBody>
      </p:sp>
      <p:sp>
        <p:nvSpPr>
          <p:cNvPr id="21" name="Rectangle 20">
            <a:extLst>
              <a:ext uri="{FF2B5EF4-FFF2-40B4-BE49-F238E27FC236}">
                <a16:creationId xmlns:a16="http://schemas.microsoft.com/office/drawing/2014/main" id="{659ED247-104B-F4FD-8AE5-F14FA4847766}"/>
              </a:ext>
            </a:extLst>
          </p:cNvPr>
          <p:cNvSpPr/>
          <p:nvPr/>
        </p:nvSpPr>
        <p:spPr>
          <a:xfrm>
            <a:off x="2005264" y="4633380"/>
            <a:ext cx="3256548" cy="50323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t>NO</a:t>
            </a:r>
          </a:p>
        </p:txBody>
      </p:sp>
      <p:sp>
        <p:nvSpPr>
          <p:cNvPr id="23" name="Rectangle 22">
            <a:extLst>
              <a:ext uri="{FF2B5EF4-FFF2-40B4-BE49-F238E27FC236}">
                <a16:creationId xmlns:a16="http://schemas.microsoft.com/office/drawing/2014/main" id="{0E34C736-FCA9-4165-D60B-532B96D3E807}"/>
              </a:ext>
            </a:extLst>
          </p:cNvPr>
          <p:cNvSpPr/>
          <p:nvPr/>
        </p:nvSpPr>
        <p:spPr>
          <a:xfrm>
            <a:off x="6031832" y="5412486"/>
            <a:ext cx="2502568" cy="50323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r"/>
            <a:r>
              <a:rPr lang="en-IN" dirty="0"/>
              <a:t>Final Digital Twin Result</a:t>
            </a:r>
          </a:p>
        </p:txBody>
      </p:sp>
      <p:sp>
        <p:nvSpPr>
          <p:cNvPr id="24" name="Oval 23">
            <a:extLst>
              <a:ext uri="{FF2B5EF4-FFF2-40B4-BE49-F238E27FC236}">
                <a16:creationId xmlns:a16="http://schemas.microsoft.com/office/drawing/2014/main" id="{AEA13B03-9D9A-8FDC-37A1-C76924135FB1}"/>
              </a:ext>
            </a:extLst>
          </p:cNvPr>
          <p:cNvSpPr/>
          <p:nvPr/>
        </p:nvSpPr>
        <p:spPr>
          <a:xfrm>
            <a:off x="5759116" y="3812074"/>
            <a:ext cx="1572126" cy="503238"/>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t>YES</a:t>
            </a:r>
          </a:p>
        </p:txBody>
      </p:sp>
      <p:sp>
        <p:nvSpPr>
          <p:cNvPr id="26" name="Rectangle 25">
            <a:extLst>
              <a:ext uri="{FF2B5EF4-FFF2-40B4-BE49-F238E27FC236}">
                <a16:creationId xmlns:a16="http://schemas.microsoft.com/office/drawing/2014/main" id="{029EF2ED-BEC0-5C14-842E-04A11EF79145}"/>
              </a:ext>
            </a:extLst>
          </p:cNvPr>
          <p:cNvSpPr/>
          <p:nvPr/>
        </p:nvSpPr>
        <p:spPr>
          <a:xfrm>
            <a:off x="7852200" y="3798292"/>
            <a:ext cx="3256548" cy="50323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t>ML Reliable</a:t>
            </a:r>
          </a:p>
        </p:txBody>
      </p:sp>
      <p:cxnSp>
        <p:nvCxnSpPr>
          <p:cNvPr id="28" name="Straight Arrow Connector 27">
            <a:extLst>
              <a:ext uri="{FF2B5EF4-FFF2-40B4-BE49-F238E27FC236}">
                <a16:creationId xmlns:a16="http://schemas.microsoft.com/office/drawing/2014/main" id="{B70F8294-A3B6-CD4A-C9D1-EE1E584D9347}"/>
              </a:ext>
            </a:extLst>
          </p:cNvPr>
          <p:cNvCxnSpPr>
            <a:stCxn id="4" idx="2"/>
            <a:endCxn id="8" idx="0"/>
          </p:cNvCxnSpPr>
          <p:nvPr/>
        </p:nvCxnSpPr>
        <p:spPr>
          <a:xfrm>
            <a:off x="3633537" y="1745060"/>
            <a:ext cx="1" cy="2800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5A4DA0C3-0607-0403-140A-82E9E28DEF64}"/>
              </a:ext>
            </a:extLst>
          </p:cNvPr>
          <p:cNvCxnSpPr>
            <a:cxnSpLocks/>
            <a:stCxn id="8" idx="2"/>
          </p:cNvCxnSpPr>
          <p:nvPr/>
        </p:nvCxnSpPr>
        <p:spPr>
          <a:xfrm flipH="1">
            <a:off x="3633537" y="2528309"/>
            <a:ext cx="1" cy="3712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045B5EBA-6472-8A5D-90FF-4432F4117CAE}"/>
              </a:ext>
            </a:extLst>
          </p:cNvPr>
          <p:cNvCxnSpPr>
            <a:cxnSpLocks/>
            <a:stCxn id="15" idx="2"/>
          </p:cNvCxnSpPr>
          <p:nvPr/>
        </p:nvCxnSpPr>
        <p:spPr>
          <a:xfrm flipH="1">
            <a:off x="3617495" y="3415237"/>
            <a:ext cx="16042" cy="3830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63B2E787-FA3D-6C98-71F4-217B8251FFFB}"/>
              </a:ext>
            </a:extLst>
          </p:cNvPr>
          <p:cNvCxnSpPr>
            <a:cxnSpLocks/>
          </p:cNvCxnSpPr>
          <p:nvPr/>
        </p:nvCxnSpPr>
        <p:spPr>
          <a:xfrm flipH="1">
            <a:off x="3609474" y="4239568"/>
            <a:ext cx="16042" cy="3830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E4043EDB-105D-0B11-F4CF-950F222488A4}"/>
              </a:ext>
            </a:extLst>
          </p:cNvPr>
          <p:cNvCxnSpPr>
            <a:cxnSpLocks/>
          </p:cNvCxnSpPr>
          <p:nvPr/>
        </p:nvCxnSpPr>
        <p:spPr>
          <a:xfrm flipH="1">
            <a:off x="3609474" y="5029431"/>
            <a:ext cx="16042" cy="3830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6F50B487-7B3A-9C20-6813-F3368C7B2873}"/>
              </a:ext>
            </a:extLst>
          </p:cNvPr>
          <p:cNvCxnSpPr>
            <a:cxnSpLocks/>
            <a:stCxn id="19" idx="3"/>
            <a:endCxn id="23" idx="1"/>
          </p:cNvCxnSpPr>
          <p:nvPr/>
        </p:nvCxnSpPr>
        <p:spPr>
          <a:xfrm flipV="1">
            <a:off x="5261811" y="5664105"/>
            <a:ext cx="770021" cy="154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FE71EA75-881E-7E20-FE52-02AFBB5A84D1}"/>
              </a:ext>
            </a:extLst>
          </p:cNvPr>
          <p:cNvCxnSpPr>
            <a:cxnSpLocks/>
            <a:endCxn id="24" idx="2"/>
          </p:cNvCxnSpPr>
          <p:nvPr/>
        </p:nvCxnSpPr>
        <p:spPr>
          <a:xfrm flipV="1">
            <a:off x="5237337" y="4063693"/>
            <a:ext cx="521779" cy="16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C5EBFDB2-E033-C935-E7D5-3ACA402B1E83}"/>
              </a:ext>
            </a:extLst>
          </p:cNvPr>
          <p:cNvCxnSpPr>
            <a:cxnSpLocks/>
          </p:cNvCxnSpPr>
          <p:nvPr/>
        </p:nvCxnSpPr>
        <p:spPr>
          <a:xfrm flipV="1">
            <a:off x="7330832" y="4065332"/>
            <a:ext cx="521779" cy="16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Connector: Elbow 41">
            <a:extLst>
              <a:ext uri="{FF2B5EF4-FFF2-40B4-BE49-F238E27FC236}">
                <a16:creationId xmlns:a16="http://schemas.microsoft.com/office/drawing/2014/main" id="{DEBCDD49-0E79-89BA-4B12-2B97C676F666}"/>
              </a:ext>
            </a:extLst>
          </p:cNvPr>
          <p:cNvCxnSpPr>
            <a:cxnSpLocks/>
            <a:stCxn id="19" idx="1"/>
          </p:cNvCxnSpPr>
          <p:nvPr/>
        </p:nvCxnSpPr>
        <p:spPr>
          <a:xfrm rot="10800000">
            <a:off x="377401" y="2207970"/>
            <a:ext cx="1627863" cy="3471556"/>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C571A364-0BAF-B245-F354-E905794B9DA4}"/>
              </a:ext>
            </a:extLst>
          </p:cNvPr>
          <p:cNvCxnSpPr>
            <a:endCxn id="8" idx="1"/>
          </p:cNvCxnSpPr>
          <p:nvPr/>
        </p:nvCxnSpPr>
        <p:spPr>
          <a:xfrm>
            <a:off x="377400" y="2276690"/>
            <a:ext cx="1627864"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42556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17410" name="TextBox 8"/>
          <p:cNvSpPr txBox="1">
            <a:spLocks noChangeArrowheads="1"/>
          </p:cNvSpPr>
          <p:nvPr/>
        </p:nvSpPr>
        <p:spPr bwMode="auto">
          <a:xfrm>
            <a:off x="474133" y="1401808"/>
            <a:ext cx="4174067" cy="2677656"/>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noProof="0" dirty="0">
                <a:solidFill>
                  <a:prstClr val="black"/>
                </a:solidFill>
                <a:latin typeface="Arial" pitchFamily="34" charset="0"/>
                <a:cs typeface="Arial" pitchFamily="34" charset="0"/>
              </a:rPr>
              <a:t>Mayur Navaratna</a:t>
            </a:r>
          </a:p>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2800" b="0" i="0" u="none" strike="noStrike" kern="1200" cap="none" spc="0" normalizeH="0" baseline="0" dirty="0">
                <a:ln>
                  <a:noFill/>
                </a:ln>
                <a:solidFill>
                  <a:prstClr val="black"/>
                </a:solidFill>
                <a:effectLst/>
                <a:uLnTx/>
                <a:uFillTx/>
                <a:latin typeface="Arial" pitchFamily="34" charset="0"/>
                <a:ea typeface="ＭＳ Ｐゴシック" pitchFamily="1" charset="-128"/>
                <a:cs typeface="Arial" pitchFamily="34" charset="0"/>
              </a:rPr>
              <a:t>Jedidah P Reddy</a:t>
            </a:r>
          </a:p>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noProof="0" dirty="0">
                <a:solidFill>
                  <a:prstClr val="black"/>
                </a:solidFill>
                <a:latin typeface="Arial" pitchFamily="34" charset="0"/>
                <a:cs typeface="Arial" pitchFamily="34" charset="0"/>
              </a:rPr>
              <a:t>Shreyas Dhavali</a:t>
            </a:r>
          </a:p>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2800" b="0" i="0" u="none" strike="noStrike" kern="1200" cap="none" spc="0" normalizeH="0" baseline="0" dirty="0">
                <a:ln>
                  <a:noFill/>
                </a:ln>
                <a:solidFill>
                  <a:prstClr val="black"/>
                </a:solidFill>
                <a:effectLst/>
                <a:uLnTx/>
                <a:uFillTx/>
                <a:latin typeface="Arial" pitchFamily="34" charset="0"/>
                <a:ea typeface="ＭＳ Ｐゴシック" pitchFamily="1" charset="-128"/>
                <a:cs typeface="Arial" pitchFamily="34" charset="0"/>
              </a:rPr>
              <a:t>Utkarsh Joshi</a:t>
            </a:r>
          </a:p>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noProof="0" dirty="0">
                <a:solidFill>
                  <a:prstClr val="black"/>
                </a:solidFill>
                <a:latin typeface="Arial" pitchFamily="34" charset="0"/>
                <a:cs typeface="Arial" pitchFamily="34" charset="0"/>
              </a:rPr>
              <a:t>Anagha Bidare</a:t>
            </a:r>
          </a:p>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2800" b="0" i="0" u="none" strike="noStrike" kern="1200" cap="none" spc="0" normalizeH="0" baseline="0" dirty="0">
                <a:ln>
                  <a:noFill/>
                </a:ln>
                <a:solidFill>
                  <a:prstClr val="black"/>
                </a:solidFill>
                <a:effectLst/>
                <a:uLnTx/>
                <a:uFillTx/>
                <a:latin typeface="Arial" pitchFamily="34" charset="0"/>
                <a:ea typeface="ＭＳ Ｐゴシック" pitchFamily="1" charset="-128"/>
                <a:cs typeface="Arial" pitchFamily="34" charset="0"/>
              </a:rPr>
              <a:t>Anjana Yadur </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8</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736094" cy="575991"/>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Glory Code</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CDEE16B4-86B9-D621-12AD-1B0EE16F9726}"/>
              </a:ext>
            </a:extLst>
          </p:cNvPr>
          <p:cNvPicPr>
            <a:picLocks noChangeAspect="1"/>
          </p:cNvPicPr>
          <p:nvPr/>
        </p:nvPicPr>
        <p:blipFill>
          <a:blip r:embed="rId4"/>
          <a:stretch>
            <a:fillRect/>
          </a:stretch>
        </p:blipFill>
        <p:spPr>
          <a:xfrm>
            <a:off x="8466711" y="3872966"/>
            <a:ext cx="3591643" cy="2217816"/>
          </a:xfrm>
          <a:prstGeom prst="rect">
            <a:avLst/>
          </a:prstGeom>
        </p:spPr>
      </p:pic>
      <p:pic>
        <p:nvPicPr>
          <p:cNvPr id="5" name="Picture 4">
            <a:extLst>
              <a:ext uri="{FF2B5EF4-FFF2-40B4-BE49-F238E27FC236}">
                <a16:creationId xmlns:a16="http://schemas.microsoft.com/office/drawing/2014/main" id="{AAB37398-D8CE-B6C2-FB62-FCB1F772A520}"/>
              </a:ext>
            </a:extLst>
          </p:cNvPr>
          <p:cNvPicPr>
            <a:picLocks noChangeAspect="1"/>
          </p:cNvPicPr>
          <p:nvPr/>
        </p:nvPicPr>
        <p:blipFill>
          <a:blip r:embed="rId5"/>
          <a:stretch>
            <a:fillRect/>
          </a:stretch>
        </p:blipFill>
        <p:spPr>
          <a:xfrm>
            <a:off x="5350438" y="1246226"/>
            <a:ext cx="3563225" cy="2345274"/>
          </a:xfrm>
          <a:prstGeom prst="rect">
            <a:avLst/>
          </a:prstGeom>
        </p:spPr>
      </p:pic>
      <p:sp>
        <p:nvSpPr>
          <p:cNvPr id="8" name="TextBox 7">
            <a:extLst>
              <a:ext uri="{FF2B5EF4-FFF2-40B4-BE49-F238E27FC236}">
                <a16:creationId xmlns:a16="http://schemas.microsoft.com/office/drawing/2014/main" id="{3C9E7E35-384A-C1B7-81BD-EB96DDA3A632}"/>
              </a:ext>
            </a:extLst>
          </p:cNvPr>
          <p:cNvSpPr txBox="1"/>
          <p:nvPr/>
        </p:nvSpPr>
        <p:spPr>
          <a:xfrm>
            <a:off x="389467" y="4629994"/>
            <a:ext cx="5223933" cy="954107"/>
          </a:xfrm>
          <a:prstGeom prst="rect">
            <a:avLst/>
          </a:prstGeom>
          <a:noFill/>
        </p:spPr>
        <p:txBody>
          <a:bodyPr wrap="square" rtlCol="0">
            <a:spAutoFit/>
          </a:bodyPr>
          <a:lstStyle/>
          <a:p>
            <a:r>
              <a:rPr lang="en-IN" sz="2000" b="1" dirty="0"/>
              <a:t>References</a:t>
            </a:r>
            <a:r>
              <a:rPr lang="en-IN" dirty="0"/>
              <a:t>: </a:t>
            </a:r>
            <a:r>
              <a:rPr lang="en-IN" dirty="0">
                <a:hlinkClick r:id="rId6"/>
              </a:rPr>
              <a:t>https://data.ncpor.res.in/PolarDirectory/</a:t>
            </a:r>
            <a:endParaRPr lang="en-IN" dirty="0"/>
          </a:p>
          <a:p>
            <a:endParaRPr lang="en-IN" dirty="0"/>
          </a:p>
        </p:txBody>
      </p:sp>
      <p:pic>
        <p:nvPicPr>
          <p:cNvPr id="4" name="Picture 3">
            <a:extLst>
              <a:ext uri="{FF2B5EF4-FFF2-40B4-BE49-F238E27FC236}">
                <a16:creationId xmlns:a16="http://schemas.microsoft.com/office/drawing/2014/main" id="{705849AF-24C9-A9BA-4598-C3498607C5EE}"/>
              </a:ext>
            </a:extLst>
          </p:cNvPr>
          <p:cNvPicPr>
            <a:picLocks noChangeAspect="1"/>
          </p:cNvPicPr>
          <p:nvPr/>
        </p:nvPicPr>
        <p:blipFill>
          <a:blip r:embed="rId7"/>
          <a:stretch>
            <a:fillRect/>
          </a:stretch>
        </p:blipFill>
        <p:spPr>
          <a:xfrm>
            <a:off x="9500121" y="1401808"/>
            <a:ext cx="2412125" cy="2133187"/>
          </a:xfrm>
          <a:prstGeom prst="rect">
            <a:avLst/>
          </a:prstGeom>
        </p:spPr>
      </p:pic>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7548</TotalTime>
  <Words>800</Words>
  <Application>Microsoft Office PowerPoint</Application>
  <PresentationFormat>Widescreen</PresentationFormat>
  <Paragraphs>102</Paragraphs>
  <Slides>8</Slides>
  <Notes>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vt:i4>
      </vt:variant>
    </vt:vector>
  </HeadingPairs>
  <TitlesOfParts>
    <vt:vector size="18" baseType="lpstr">
      <vt:lpstr>ＭＳ Ｐゴシック</vt:lpstr>
      <vt:lpstr>Aptos</vt:lpstr>
      <vt:lpstr>Arial</vt:lpstr>
      <vt:lpstr>Calibri</vt:lpstr>
      <vt:lpstr>Garamond</vt:lpstr>
      <vt:lpstr>Google Sans Text</vt:lpstr>
      <vt:lpstr>Times New Roman</vt:lpstr>
      <vt:lpstr>TradeGothic</vt:lpstr>
      <vt:lpstr>Wingdings</vt:lpstr>
      <vt:lpstr>Office Theme</vt:lpstr>
      <vt:lpstr>SMART INDIA HACKATHON 2026</vt:lpstr>
      <vt:lpstr> DPT-A</vt:lpstr>
      <vt:lpstr>MAITRI STATION</vt:lpstr>
      <vt:lpstr>BHARATI STATION</vt:lpstr>
      <vt:lpstr>About the ML Model</vt:lpstr>
      <vt:lpstr>ML Machinery</vt:lpstr>
      <vt:lpstr>Logic of the Model</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Neeraj Navaratna</cp:lastModifiedBy>
  <cp:revision>151</cp:revision>
  <dcterms:created xsi:type="dcterms:W3CDTF">2013-12-12T18:46:50Z</dcterms:created>
  <dcterms:modified xsi:type="dcterms:W3CDTF">2026-09-12T06:47:58Z</dcterms:modified>
  <cp:category/>
</cp:coreProperties>
</file>